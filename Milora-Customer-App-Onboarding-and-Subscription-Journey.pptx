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"/>
      <p:regular r:id="rId201316"/>
    </p:embeddedFont>
    <p:embeddedFont>
      <p:font typeface="Noto Serif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5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4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5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3334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MILORA · PRODUCT DESIGN 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349565"/>
            <a:ext cx="10972526" cy="1285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Milora Customer App — Onboarding &amp; Subscription Journey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375525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Fresh milk delivered simply.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4388644"/>
            <a:ext cx="2743131" cy="38100"/>
          </a:xfrm>
          <a:prstGeom prst="roundRect">
            <a:avLst>
              <a:gd name="adj" fmla="val 49999"/>
            </a:avLst>
          </a:prstGeom>
          <a:solidFill>
            <a:srgbClr val="006747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633436"/>
            <a:ext cx="1158211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first-use path from brand entry to an active recurring subscription.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47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JOURNEY AT A GLANCE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50015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From first tap to a dependable recurring delivery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411333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screen moves the customer toward a clear, eligible, reviewable subscription.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854226"/>
            <a:ext cx="8052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674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3103166"/>
            <a:ext cx="251453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249595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Trust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3593306"/>
            <a:ext cx="25145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Establish the promise.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8914" y="2854226"/>
            <a:ext cx="8452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674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8914" y="3103166"/>
            <a:ext cx="251453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1" name="Text 9"/>
          <p:cNvSpPr/>
          <p:nvPr/>
        </p:nvSpPr>
        <p:spPr>
          <a:xfrm>
            <a:off x="3428914" y="3249595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Account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28914" y="3593306"/>
            <a:ext cx="25145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and verify.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8244" y="2854226"/>
            <a:ext cx="84433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674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3103166"/>
            <a:ext cx="251453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3249595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Eligibility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48244" y="3593306"/>
            <a:ext cx="25145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Locate a partner.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67573" y="2854226"/>
            <a:ext cx="8447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6747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67573" y="3103166"/>
            <a:ext cx="251453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9" name="Text 17"/>
          <p:cNvSpPr/>
          <p:nvPr/>
        </p:nvSpPr>
        <p:spPr>
          <a:xfrm>
            <a:off x="9067573" y="3249595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Commitment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67573" y="3593306"/>
            <a:ext cx="25145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Configure, review, pay.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9585" y="4000897"/>
            <a:ext cx="5333867" cy="1568152"/>
          </a:xfrm>
          <a:prstGeom prst="roundRect">
            <a:avLst>
              <a:gd name="adj" fmla="val 10204"/>
            </a:avLst>
          </a:prstGeom>
          <a:solidFill>
            <a:srgbClr val="D1EFE4"/>
          </a:solidFill>
          <a:ln/>
        </p:spPr>
      </p:sp>
      <p:sp>
        <p:nvSpPr>
          <p:cNvPr id="22" name="Text 20"/>
          <p:cNvSpPr/>
          <p:nvPr/>
        </p:nvSpPr>
        <p:spPr>
          <a:xfrm>
            <a:off x="838179" y="4250217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UX goals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8179" y="4593927"/>
            <a:ext cx="487667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onboarding low-friction, explain location and partner eligibility, expose commitment details before payment, and preserve continuity after activation.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8244" y="4000897"/>
            <a:ext cx="5333867" cy="1568152"/>
          </a:xfrm>
          <a:prstGeom prst="roundRect">
            <a:avLst>
              <a:gd name="adj" fmla="val 10204"/>
            </a:avLst>
          </a:prstGeom>
          <a:solidFill>
            <a:srgbClr val="D1EFE4"/>
          </a:solidFill>
          <a:ln/>
        </p:spPr>
      </p:sp>
      <p:sp>
        <p:nvSpPr>
          <p:cNvPr id="25" name="Text 23"/>
          <p:cNvSpPr/>
          <p:nvPr/>
        </p:nvSpPr>
        <p:spPr>
          <a:xfrm>
            <a:off x="6476838" y="4250217"/>
            <a:ext cx="487667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Review lens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76838" y="4593927"/>
            <a:ext cx="487667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screen has one clear next action, visible system status, and enough context for designers, UX reviewers, developers, and evaluators.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9585" y="5727799"/>
            <a:ext cx="109725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Compact mobile-screen placeholders appear only where they clarify hierarchy; this deck documents the supplied journey, not fabricated UI.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505019" y="6466086"/>
            <a:ext cx="68667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01–02 · ENTRY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7095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first impression explains the promise before it asks for data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441873"/>
            <a:ext cx="5333867" cy="3806527"/>
          </a:xfrm>
          <a:prstGeom prst="roundRect">
            <a:avLst>
              <a:gd name="adj" fmla="val 4204"/>
            </a:avLst>
          </a:prstGeom>
          <a:solidFill>
            <a:srgbClr val="D1EFE4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2670473"/>
            <a:ext cx="1605617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6" name="Text 4"/>
          <p:cNvSpPr/>
          <p:nvPr/>
        </p:nvSpPr>
        <p:spPr>
          <a:xfrm>
            <a:off x="944837" y="2730287"/>
            <a:ext cx="200188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01 · SPLASH SCREEN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8179" y="3090929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Make the pause feel intentional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3474045"/>
            <a:ext cx="4876678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flowing M symbol/wordmark, milk-and-nature visual language, quiet visual field, and loading treatment establish Milora while the app initializes.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wait, then transition into onboarding.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brief branded pause makes the service feel intentional. No decision is required yet.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2441873"/>
            <a:ext cx="5333867" cy="3806527"/>
          </a:xfrm>
          <a:prstGeom prst="roundRect">
            <a:avLst>
              <a:gd name="adj" fmla="val 4204"/>
            </a:avLst>
          </a:prstGeom>
          <a:solidFill>
            <a:srgbClr val="D1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6476838" y="2670473"/>
            <a:ext cx="1201211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495" y="2730287"/>
            <a:ext cx="159748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 · WELCOME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6838" y="3090929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State the benefit first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43531" y="3550245"/>
            <a:ext cx="483857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“Fresh milk. Delivered simply.”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76838" y="3474045"/>
            <a:ext cx="19050" cy="401241"/>
          </a:xfrm>
          <a:prstGeom prst="roundRect">
            <a:avLst>
              <a:gd name="adj" fmla="val 49999"/>
            </a:avLst>
          </a:prstGeom>
          <a:solidFill>
            <a:srgbClr val="006747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3980061"/>
            <a:ext cx="4876678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“Get fresh dairy delivered to your doorstep from trusted local partners.”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choose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Get started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 return through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Already have an account? Log in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direct benefit statement and two clear paths reduce uncertainty at the first decision.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05813" y="6466086"/>
            <a:ext cx="68588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03–04 · ACCOUNT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7095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Account creation stays focused on one piece of information at a time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441873"/>
            <a:ext cx="5333867" cy="3806527"/>
          </a:xfrm>
          <a:prstGeom prst="roundRect">
            <a:avLst>
              <a:gd name="adj" fmla="val 4204"/>
            </a:avLst>
          </a:prstGeom>
          <a:solidFill>
            <a:srgbClr val="D1EFE4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2670473"/>
            <a:ext cx="1726760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6" name="Text 4"/>
          <p:cNvSpPr/>
          <p:nvPr/>
        </p:nvSpPr>
        <p:spPr>
          <a:xfrm>
            <a:off x="944837" y="2730287"/>
            <a:ext cx="212303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 · CREATE ACCOUNT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8179" y="3090929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Start with a phone number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3474045"/>
            <a:ext cx="4876678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Country-code selector, phone-number field,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Continue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CTA, and consent copy linking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Terms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Privacy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enter a number and continue.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one field lowers effort while explicit consent keeps the exchange clear and reviewable.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2441873"/>
            <a:ext cx="5333867" cy="3806527"/>
          </a:xfrm>
          <a:prstGeom prst="roundRect">
            <a:avLst>
              <a:gd name="adj" fmla="val 4204"/>
            </a:avLst>
          </a:prstGeom>
          <a:solidFill>
            <a:srgbClr val="D1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6476838" y="2670473"/>
            <a:ext cx="1482291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495" y="2730287"/>
            <a:ext cx="187856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 · VERIFY PHONE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6838" y="3090929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Confirm contact ownership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6838" y="3474045"/>
            <a:ext cx="4876678" cy="1702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Masked phone number, OTP entry, resend timer or resend action, and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Verify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CTA.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enter the one-time code, with resend available after the timer.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masked number reinforces where the code went without exposing the full contact detail.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05515" y="6466086"/>
            <a:ext cx="68618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946"/>
            <a:ext cx="11582110" cy="170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59" kern="1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05–06 · FIRST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7950"/>
            <a:ext cx="10972526" cy="787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new-user home makes the next action obvious, then asks for location at the right moment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4213965"/>
            <a:ext cx="3606710" cy="26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05 — Home — New User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4570676"/>
            <a:ext cx="3606710" cy="249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Purpose: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Give a newly verified customer a clear launch point into the core value: a recurring milk delivery.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Visible content: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Greeting, fresh-milk imagery, value proposition,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Start subscription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CTA, and bottom navigation: Home, Subscription, Deliveries, Billing, Profile.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Start a subscription.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page is useful without pretending the customer has an order history; the CTA maps directly to the stated job.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40256" y="4213965"/>
            <a:ext cx="3606710" cy="26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06 — Location Modal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740256" y="4570676"/>
            <a:ext cx="3606710" cy="2266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Purpose: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Request location only when it enables partner discovery and delivery eligibility.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Visible content: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Dimmed background, explanation of why location is needed,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 my current location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CTA, and manual location search fallback.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Grant location or search manually.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blocking treatment signals a meaningful decision while preserving an accessible alternative.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1343" y="3581400"/>
            <a:ext cx="1930352" cy="3276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61343" y="3581400"/>
            <a:ext cx="1930352" cy="3276600"/>
          </a:xfrm>
          <a:prstGeom prst="rect">
            <a:avLst/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6466086"/>
            <a:ext cx="6875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07–08 · ELIGIBILITY → 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7095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Partner selection turns an abstract service into a local, eligible choice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441873"/>
            <a:ext cx="5333867" cy="3806527"/>
          </a:xfrm>
          <a:prstGeom prst="roundRect">
            <a:avLst>
              <a:gd name="adj" fmla="val 4204"/>
            </a:avLst>
          </a:prstGeom>
          <a:solidFill>
            <a:srgbClr val="D1EFE4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2670473"/>
            <a:ext cx="2154878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6" name="Text 4"/>
          <p:cNvSpPr/>
          <p:nvPr/>
        </p:nvSpPr>
        <p:spPr>
          <a:xfrm>
            <a:off x="944837" y="2730287"/>
            <a:ext cx="255114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07 · CHOOSE DAIRY PARTNER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8179" y="3090929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Make availability visible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3474045"/>
            <a:ext cx="4876678" cy="22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Show the delivery address,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Change location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nearby partner list, partner name, rating and review count, distance, availability or nearest indicator, selectable radio state, and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Continue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select one partner and continue.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transparent comparison makes eligibility feel determined by the customer’s real location, not hidden system logic.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2441873"/>
            <a:ext cx="5333867" cy="3806527"/>
          </a:xfrm>
          <a:prstGeom prst="roundRect">
            <a:avLst>
              <a:gd name="adj" fmla="val 4204"/>
            </a:avLst>
          </a:prstGeom>
          <a:solidFill>
            <a:srgbClr val="D1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6476838" y="2670473"/>
            <a:ext cx="2359164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495" y="2730287"/>
            <a:ext cx="275543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08 · CONFIGURE SUBSCRIPTION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6838" y="3090929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Turn preference into routine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6838" y="3474045"/>
            <a:ext cx="4876678" cy="2449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Selected partner summary;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A2 Cow Milk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Cow Milk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Buffalo Milk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options with concise descriptions and per-litre prices; quantity stepper;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Morning/Evening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Every day/Weekdays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choose milk, quantity, window, and frequency, then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Review subscription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grouping the decisions in one place helps customers understand the recurring commitment before they review the total.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08293" y="6466086"/>
            <a:ext cx="6834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09–10 · COMMITMENT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7095"/>
            <a:ext cx="10972526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Review and payment make the recurring commitment legible before money moves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3340993"/>
            <a:ext cx="2082847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5" name="Text 3"/>
          <p:cNvSpPr/>
          <p:nvPr/>
        </p:nvSpPr>
        <p:spPr>
          <a:xfrm>
            <a:off x="716242" y="3400807"/>
            <a:ext cx="247911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09 · REVIEW SUBSCRIPTION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3707474"/>
            <a:ext cx="533386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Give every decision a correction point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4090591"/>
            <a:ext cx="5333867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Selected milk and quantity, partner, delivery window and time, schedule, monthly price estimate, delivery fee if applicable, total monthly estimate, recurring-payment and terms disclosure.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inspect the summary, then choose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Continue to Payment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UX rationale: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consolidate all decision variables before commitment.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3112393"/>
            <a:ext cx="5333867" cy="3158232"/>
          </a:xfrm>
          <a:prstGeom prst="roundRect">
            <a:avLst>
              <a:gd name="adj" fmla="val 5067"/>
            </a:avLst>
          </a:prstGeom>
          <a:solidFill>
            <a:srgbClr val="D1EFE4"/>
          </a:solidFill>
          <a:ln/>
        </p:spPr>
      </p:sp>
      <p:sp>
        <p:nvSpPr>
          <p:cNvPr id="9" name="Shape 7"/>
          <p:cNvSpPr/>
          <p:nvPr/>
        </p:nvSpPr>
        <p:spPr>
          <a:xfrm>
            <a:off x="6476838" y="3340993"/>
            <a:ext cx="1090982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495" y="3400807"/>
            <a:ext cx="148725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 · PAYMENT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6838" y="3707474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Keep the plan context visible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6838" y="4090591"/>
            <a:ext cx="4876678" cy="1951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Amount due, plan context, supported payment methods such as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UPI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credit/debit card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net banking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selected-method state; security reassurance.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interaction: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choose a supported method and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Pay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Implementation check: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show autopay only if supported by the backend/payment policy; payment and autopay wording must match implementation policy exactly.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516826" y="6466086"/>
            <a:ext cx="6748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60968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11 · ACTIVATION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077511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Activation closes the setup loop with a concrete service promise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538829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 is expressed as an operating plan, not just a celebratory message.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515122"/>
            <a:ext cx="3538945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7380" y="4226322"/>
            <a:ext cx="318335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Subscription Active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7380" y="4570413"/>
            <a:ext cx="318335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Confirm that the recurring service is live.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325" y="3248422"/>
            <a:ext cx="3538945" cy="1428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04121" y="3959622"/>
            <a:ext cx="318335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Plan is visible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04121" y="4303712"/>
            <a:ext cx="318335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Milk plan, quantity, delivery schedule, selected partner, next delivery date, payment status, and paid amount.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066" y="2981722"/>
            <a:ext cx="3539044" cy="1428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0862" y="3692922"/>
            <a:ext cx="31834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Choose the next view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220862" y="4037012"/>
            <a:ext cx="318345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View Subscription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 to Home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9585" y="5404644"/>
            <a:ext cx="10972526" cy="693341"/>
          </a:xfrm>
          <a:prstGeom prst="roundRect">
            <a:avLst>
              <a:gd name="adj" fmla="val 23079"/>
            </a:avLst>
          </a:prstGeom>
          <a:solidFill>
            <a:srgbClr val="CCFFEF"/>
          </a:solidFill>
          <a:ln/>
        </p:spPr>
      </p:sp>
      <p:sp>
        <p:nvSpPr>
          <p:cNvPr id="15" name="Text 10"/>
          <p:cNvSpPr/>
          <p:nvPr/>
        </p:nvSpPr>
        <p:spPr>
          <a:xfrm>
            <a:off x="787380" y="5626894"/>
            <a:ext cx="112265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Reviewer check: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confirmation should map directly to the earlier flow and make the next service promise concrete.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506904" y="6466086"/>
            <a:ext cx="68479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 · CONTINUITY AFTER ACTIVATION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8560"/>
            <a:ext cx="10972526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After activation: Home answers “what happens today?”; Subscription answers “what did I commit to?”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387997"/>
            <a:ext cx="5333867" cy="2955131"/>
          </a:xfrm>
          <a:prstGeom prst="roundRect">
            <a:avLst>
              <a:gd name="adj" fmla="val 5415"/>
            </a:avLst>
          </a:prstGeom>
          <a:solidFill>
            <a:srgbClr val="D1EFE4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2616597"/>
            <a:ext cx="2387937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6" name="Text 4"/>
          <p:cNvSpPr/>
          <p:nvPr/>
        </p:nvSpPr>
        <p:spPr>
          <a:xfrm>
            <a:off x="944837" y="2676411"/>
            <a:ext cx="278420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 · LIVE OPERATIONAL 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8179" y="3037053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happens today?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3420170"/>
            <a:ext cx="4876678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Greeting and location; today’s delivery card with ETA and status progression: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Schedule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Packed or Dispatched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Delivered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as applicable; 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Track delivery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My Subscription: plan, quantity, partner, price, and status. Quick actions: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Pause delivery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Change quantity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upcoming deliveries: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View all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; bottom navigation retained.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2387997"/>
            <a:ext cx="5333867" cy="2955131"/>
          </a:xfrm>
          <a:prstGeom prst="roundRect">
            <a:avLst>
              <a:gd name="adj" fmla="val 5415"/>
            </a:avLst>
          </a:prstGeom>
          <a:solidFill>
            <a:srgbClr val="D1EFE4"/>
          </a:solidFill>
          <a:ln/>
        </p:spPr>
      </p:sp>
      <p:sp>
        <p:nvSpPr>
          <p:cNvPr id="10" name="Shape 8"/>
          <p:cNvSpPr/>
          <p:nvPr/>
        </p:nvSpPr>
        <p:spPr>
          <a:xfrm>
            <a:off x="6476838" y="2616597"/>
            <a:ext cx="3293881" cy="270173"/>
          </a:xfrm>
          <a:prstGeom prst="roundRect">
            <a:avLst>
              <a:gd name="adj" fmla="val 47382"/>
            </a:avLst>
          </a:prstGeom>
          <a:solidFill>
            <a:srgbClr val="CCFFE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495" y="2676411"/>
            <a:ext cx="3690151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SUBSCRIPTION · DURABLE SOURCE OF TRUTH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6838" y="3037053"/>
            <a:ext cx="48766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What did I commit to?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6838" y="3420170"/>
            <a:ext cx="4876678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 status, next delivery, and details: seller, product, quantity/day, delivery time, and schedule.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Management actions: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Requirement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Pause subscription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and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Cancel subscription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Continuity rule: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Future Requirement changes one selected future delivery only, without changing the recurring plan.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585" y="5501878"/>
            <a:ext cx="1097252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Implementation checks: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loading/error/empty; disabled/invalid; location denied/manual search; OTP resend/invalid OTP; payment failure/retry; partner availability; delivery cutoff; consistency across Home, Subscription, and Deliveries; actual payment and pricing rules.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508293" y="6466086"/>
            <a:ext cx="6834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2026-10-15T14:04:33Z</dcterms:created>
  <dcterms:modified xsi:type="dcterms:W3CDTF">2026-10-15T14:04:33Z</dcterms:modified>
</cp:coreProperties>
</file>